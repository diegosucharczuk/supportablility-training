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7" r:id="rId3"/>
    <p:sldId id="257" r:id="rId4"/>
    <p:sldId id="262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4"/>
  </p:normalViewPr>
  <p:slideViewPr>
    <p:cSldViewPr snapToGrid="0">
      <p:cViewPr varScale="1">
        <p:scale>
          <a:sx n="121" d="100"/>
          <a:sy n="121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6416-CB9C-05B0-9C84-72FD7C6F9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FA1E1-93E4-CB36-0875-DB17A70CD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ECC67-5F04-5254-B8BF-BF20DE89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51FDF-446F-F772-F39B-7D1024CC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4DBDC-3C54-E651-C96F-33798378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999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5B04-B17C-9737-05A1-E4F0C0B0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792E0-B9CE-33B4-BFE8-10BE48978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6B6D-C61A-EC89-D247-F39C3FF1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37F6-1994-95A5-DD21-06A23BBF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8455C-2CC2-A06D-14A2-BDAFF5A3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59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5D0E-0460-7502-ED05-EBAF723D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6567B-158B-42A0-0FC0-F1B3DB262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F18F7-D41C-8501-0736-E47CF91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894B4-6068-EBB1-0E8D-2B7869CC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DA583-0789-43D0-D9DF-153B791C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156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6048-BF35-4C75-7F35-8AFA881A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654DE-3CFC-640F-ADFA-120129E16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4B5E3-D2A3-92C0-16FE-D5E627200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FDC67-E869-05CE-A891-F27EF478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AD333-C599-80CF-4B6D-927B96C7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B9D5E-30AE-E077-52ED-7149AB03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906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5017-07FE-4B49-ABB2-9C797E62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A8D25-3528-CDEC-27BE-9A17BCCA0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962F1-C66B-ECEF-AEEB-25945CDD8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A6C87-115C-C96F-A78F-DDE96A2EC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AC0FF-3727-17B2-ABC2-A96F40FC9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17D35-4403-85E6-D52D-16F6EBD0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2C87F-40F3-A6CE-212B-E4B1CAFE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AD2A2-6C4D-F067-7576-5E6A7F1A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242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7B01-E59A-67CD-FB2D-11A58924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E67FC-8CE0-8588-B039-8B3DACF9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C0F7A-51ED-4528-86A0-373576AA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9220A-16E0-1271-61F1-04A7C1DB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139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5FB31-AAFE-B00C-F6E3-A2E47E1E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063FE-D317-194C-8051-C4D6E903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70166-7F8C-5C1E-7677-B2CE3A6B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603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30CB-E88E-AFF9-18A1-B2DE66E4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6D4C1-3716-78A0-2C06-790DAC0F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AD964-5C7C-7CCB-C560-7F0DC2A5E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FBF94-F1D8-59DC-694E-45426C89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1B9B1-3D38-37EE-0AE3-50DE0177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0D4F8-3D64-5CC3-C681-95A5F997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5224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2AF6-5A77-3419-A2FA-C4CAEA33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D49E5-5362-6E54-5623-0AD9674AF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EF593-2E8C-4AD0-CDB9-2CEE6865F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F4F3F-94A6-4BDE-D6A5-1D4F1C71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C1279-F453-0BFA-C2F5-C6FC0B4C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59A7D-EBFB-8F8E-AE98-2822B957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975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DAE5-E378-E2E9-108E-D5369395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E8A49-2735-3820-2FB5-9D8E60F29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E7B8-551D-C6D7-9BE2-D1949335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1AA0D-CCA7-12E7-74B8-F9F311C3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60DA1-D461-FF38-DC60-E6016DD0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020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15E81-34F2-AD74-BF65-D557C64EF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0EA44-64BA-B12E-4DB0-DA887EAAC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CAA5F-6C17-AFEE-7AB2-ACC6220D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FE33D-1E35-6EA7-35AA-1575FCC3D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A5AA-AF85-7027-2764-64A95BC3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17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22F4B-1679-E91A-FBC3-0D534426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11D41-770D-A560-B348-39D46E48B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7D494-D25A-51EB-AF20-E8A534390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033A1-69E7-CCCA-5CF9-363182F43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22A62-915D-8634-1E24-739948A3B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886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0775C-0DDB-DD9D-021F-4B516F37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921CE8-9DC4-BED4-E507-15CB4D894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46BF9A-F686-4564-66D0-2E075AF38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7D8B30-D2AD-8F55-0A1C-C02D9A5B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8" y="2686049"/>
            <a:ext cx="8153102" cy="1143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דוגמה לטיפול באסקלציה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D3BDB82-48E6-CEEB-256A-669D8008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60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FECC1-EFB7-7C72-FC12-9E2403F3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0161C7-2FE0-AB60-A163-521E57814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72CA34-0328-BEA6-412E-6C1DC4CB1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F0788E-3DAA-8D55-CD4B-DF932871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1" y="41475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הודעה מהתמיכה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0D6D6B4-E080-A3C6-860F-20C464F8B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D00AE-9F2D-D878-EA4B-628DDCE8B6FE}"/>
              </a:ext>
            </a:extLst>
          </p:cNvPr>
          <p:cNvSpPr txBox="1"/>
          <p:nvPr/>
        </p:nvSpPr>
        <p:spPr>
          <a:xfrm>
            <a:off x="238125" y="647700"/>
            <a:ext cx="10311145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Hi AIM R&amp;D,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>
                <a:solidFill>
                  <a:srgbClr val="181818"/>
                </a:solidFill>
                <a:latin typeface="-apple-system"/>
              </a:rPr>
              <a:t>My customer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has opened a case with us in regards to their Linux providers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Unix servers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• CP v14.00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•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CLIPasswordsdk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After a recent OS Patch which I'm still trying to have the customer confirm which one. The customers Linux Providers have started to fail Allowed Machine Authentication. 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The Providers were whitelisted in the Application's authentication list with their short hostname name.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After the patch the customer is needing to add the IP/ FQDN under allowed machines of Application created in CyberArk. The issue hear is that the customer has 100's of applications.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The has found that the patch removed an entry from the host file.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Customer would like to confirm if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aimagent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is depending on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etc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\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hostfile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for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shortname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? If not, what could be the reason for sudden break in the configuration.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[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@SGDPSR00002][PROD]: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&gt; hostname -f</a:t>
            </a:r>
            <a:br>
              <a:rPr lang="en-US" sz="1100" dirty="0"/>
            </a:b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SGDP.int.bar.com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[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@ SGDPSR00002][PROD]: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&gt; hostname -s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SGDPSR00002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I have found the following Article https://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community.cyberark.com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/s/article/How-does-the-Application-Password-Provider-determine-server-s-IP-address however speaking with Diego, there was mention of an API call.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If we can confirm how we obtain the and attach the hostname to the call, I think this would greatly help Barclays with a plan on how they can reverse/amend the settings which has trigger the change in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behaviour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for them rather than mass updates to the Application information.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Please do let me know if there is further information you would like to see.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Best regards, </a:t>
            </a:r>
            <a:br>
              <a:rPr lang="en-US" sz="1100" dirty="0"/>
            </a:br>
            <a:r>
              <a:rPr lang="en-US" sz="1100" dirty="0">
                <a:solidFill>
                  <a:srgbClr val="181818"/>
                </a:solidFill>
                <a:latin typeface="-apple-system"/>
              </a:rPr>
              <a:t>Manuel Ortega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 </a:t>
            </a:r>
            <a:endParaRPr lang="en-IL" sz="1100" dirty="0"/>
          </a:p>
        </p:txBody>
      </p:sp>
    </p:spTree>
    <p:extLst>
      <p:ext uri="{BB962C8B-B14F-4D97-AF65-F5344CB8AC3E}">
        <p14:creationId xmlns:p14="http://schemas.microsoft.com/office/powerpoint/2010/main" val="203369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FAD436-0D59-7B4C-EA52-0EED7DD0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1" y="41475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תשובה ללקוח על ידי הפיתוח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D7A38-EF87-80F1-2578-DAF63357A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97" y="2311802"/>
            <a:ext cx="10768181" cy="2234396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88989-081D-77E9-B3BE-7AD6A6D6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CB2445B-AE37-ED3F-1FAE-27536C1A3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4ED66-9DA5-1385-E92E-6266A0B22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1B87D6-220E-8E8F-3B31-5ED2AA43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430" y="-9526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ניתוח תשובה ללקוח על ידי הפיתוח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84DB095-78B7-5AA3-6850-3D81E65D0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5AF8A5-CE7F-DDD1-29F5-BBF1CA08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649"/>
            <a:ext cx="10515600" cy="6010275"/>
          </a:xfrm>
        </p:spPr>
        <p:txBody>
          <a:bodyPr>
            <a:normAutofit fontScale="62500" lnSpcReduction="20000"/>
          </a:bodyPr>
          <a:lstStyle/>
          <a:p>
            <a:pPr marL="0" indent="0" algn="r" rtl="1">
              <a:buNone/>
            </a:pPr>
            <a:r>
              <a:rPr lang="en-US" b="1" dirty="0"/>
              <a:t>1</a:t>
            </a:r>
            <a:r>
              <a:rPr lang="he-IL" b="1" dirty="0"/>
              <a:t> - טון התשובה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הטון חד מדי ונשמע מאשים.</a:t>
            </a:r>
          </a:p>
          <a:p>
            <a:pPr marL="457200" lvl="1" indent="0" algn="r" rtl="1">
              <a:buNone/>
            </a:pPr>
            <a:r>
              <a:rPr lang="he-IL" dirty="0"/>
              <a:t>לדוגמה: "</a:t>
            </a:r>
            <a:r>
              <a:rPr lang="en-US" dirty="0"/>
              <a:t>"CP blocks every communication…</a:t>
            </a:r>
          </a:p>
          <a:p>
            <a:pPr marL="457200" lvl="1" indent="0" algn="r" rtl="1">
              <a:buNone/>
            </a:pPr>
            <a:r>
              <a:rPr lang="he-IL" dirty="0"/>
              <a:t>המשפט מציג את הבעיה כטעות של הלקוח, במקום להראות שאנחנו בצוות פועלים יחד.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להשתמש בטון שיתופי ומלווה, שמראה שאנחנו חלק מהפתרון.</a:t>
            </a:r>
          </a:p>
          <a:p>
            <a:pPr marL="457200" lvl="1" indent="0" algn="r" rtl="1">
              <a:buNone/>
            </a:pPr>
            <a:r>
              <a:rPr lang="he-IL" dirty="0"/>
              <a:t>להתחיל ב: </a:t>
            </a:r>
            <a:r>
              <a:rPr lang="en-US" dirty="0"/>
              <a:t>"I understand the situation, and we are here to help...”</a:t>
            </a:r>
          </a:p>
          <a:p>
            <a:pPr marL="0" indent="0" algn="r" rtl="1">
              <a:buNone/>
            </a:pP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en-US" b="1" dirty="0"/>
              <a:t>2</a:t>
            </a:r>
            <a:r>
              <a:rPr lang="he-IL" b="1" dirty="0"/>
              <a:t> </a:t>
            </a:r>
            <a:r>
              <a:rPr lang="en-US" b="1" dirty="0"/>
              <a:t> </a:t>
            </a:r>
            <a:r>
              <a:rPr lang="he-IL" b="1" dirty="0"/>
              <a:t>- הבנת הבעיה</a:t>
            </a: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חסר הסבר ברור על מה הבנו מהבעיה ומה היא השפעתה.</a:t>
            </a:r>
          </a:p>
          <a:p>
            <a:pPr marL="457200" lvl="1" indent="0" algn="r" rtl="1">
              <a:buNone/>
            </a:pPr>
            <a:r>
              <a:rPr lang="he-IL" dirty="0"/>
              <a:t>הלקוח צריך לראות שאנחנו מבינים את הסיבה לבעיה, לא רק תוצאה טכנית.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להוסיף משפט פתיחה שמסכם את מה שהלקוח חווה והבנתנו את השורש:</a:t>
            </a:r>
          </a:p>
          <a:p>
            <a:pPr marL="914400" lvl="2" indent="0" algn="l">
              <a:buNone/>
            </a:pPr>
            <a:r>
              <a:rPr lang="he-IL" dirty="0"/>
              <a:t>"</a:t>
            </a:r>
            <a:r>
              <a:rPr lang="en-US" dirty="0"/>
              <a:t>I understand that the application stopped receiving passwords after the Linux upgrade, and the FQDN change caused the CP to treat the server as an unrecognized source."</a:t>
            </a:r>
          </a:p>
          <a:p>
            <a:pPr marL="0" indent="0" algn="r" rtl="1">
              <a:buNone/>
            </a:pP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en-US" b="1" dirty="0"/>
              <a:t>3 </a:t>
            </a:r>
            <a:r>
              <a:rPr lang="he-IL" b="1" dirty="0"/>
              <a:t> - מה אנחנו עושים עכשיו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חסר הסבר ברור על הצעדים שאנחנו נוקטים כרגע.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לפרט את הפעולות שלנו בצורה מלווה וברורה:</a:t>
            </a:r>
          </a:p>
          <a:p>
            <a:pPr marL="914400" lvl="2" indent="0" algn="l">
              <a:buNone/>
            </a:pPr>
            <a:r>
              <a:rPr lang="he-IL" dirty="0"/>
              <a:t>"</a:t>
            </a:r>
            <a:r>
              <a:rPr lang="en-US" dirty="0"/>
              <a:t>We will validate the logs they sent and reproduce the scenario in-house to suggest the proper fix."</a:t>
            </a:r>
          </a:p>
          <a:p>
            <a:pPr marL="914400" lvl="2" indent="0" algn="l">
              <a:buNone/>
            </a:pPr>
            <a:r>
              <a:rPr lang="en-US" dirty="0"/>
              <a:t>"I will guide them step by step if anything is unclear."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7890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A78BF-584A-FDA0-BF7C-03D3F069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0ED2609-4212-91B7-791F-D68015A00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828D4D-B538-8C35-8D73-F94891C1C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CE5A06D-952A-B99D-BBEA-5A6B1636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830" y="-952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ניתוח תשובה ללקוח על ידי הפיתוח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8BB31E-BC74-28CF-7374-7E54BC41D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21633D-433B-085B-1783-7D8E221C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619125"/>
            <a:ext cx="11193136" cy="5919788"/>
          </a:xfrm>
        </p:spPr>
        <p:txBody>
          <a:bodyPr>
            <a:normAutofit fontScale="70000" lnSpcReduction="20000"/>
          </a:bodyPr>
          <a:lstStyle/>
          <a:p>
            <a:pPr marL="0" indent="0" algn="r" rtl="1">
              <a:buNone/>
            </a:pPr>
            <a:r>
              <a:rPr lang="he-IL" b="1" dirty="0"/>
              <a:t>4 - מבנה כללי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אין מבנה ברור – קורה, משמעות, מה עושים.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לארגן את התשובה לפי שלושה חלקים:</a:t>
            </a:r>
          </a:p>
          <a:p>
            <a:pPr marL="914400" lvl="2" indent="0" algn="r" rtl="1">
              <a:buNone/>
            </a:pPr>
            <a:r>
              <a:rPr lang="he-IL" b="1" dirty="0"/>
              <a:t>מה קרה:</a:t>
            </a:r>
            <a:r>
              <a:rPr lang="he-IL" dirty="0"/>
              <a:t> שינוי ה-</a:t>
            </a:r>
            <a:r>
              <a:rPr lang="en-US" dirty="0"/>
              <a:t>FQDN </a:t>
            </a:r>
            <a:r>
              <a:rPr lang="he-IL" dirty="0"/>
              <a:t> אחרי השדרוג.</a:t>
            </a:r>
          </a:p>
          <a:p>
            <a:pPr marL="914400" lvl="2" indent="0" algn="r" rtl="1">
              <a:buNone/>
            </a:pPr>
            <a:r>
              <a:rPr lang="he-IL" b="1" dirty="0"/>
              <a:t>מה המשמעות:</a:t>
            </a:r>
            <a:r>
              <a:rPr lang="he-IL" dirty="0"/>
              <a:t> </a:t>
            </a:r>
            <a:r>
              <a:rPr lang="en-US" dirty="0"/>
              <a:t>CP </a:t>
            </a:r>
            <a:r>
              <a:rPr lang="he-IL" dirty="0"/>
              <a:t> חוסם את כל הבקשות מהשרת כי הוא לא מזוהה.</a:t>
            </a:r>
          </a:p>
          <a:p>
            <a:pPr marL="914400" lvl="2" indent="0" algn="r" rtl="1">
              <a:buNone/>
            </a:pPr>
            <a:r>
              <a:rPr lang="he-IL" b="1" dirty="0"/>
              <a:t>מה עושים:</a:t>
            </a:r>
            <a:r>
              <a:rPr lang="he-IL" dirty="0"/>
              <a:t> צעדים מיידיים (עדכון רשימת אימות, בדיקה מחודשת, ליווי הלקוח).</a:t>
            </a:r>
          </a:p>
          <a:p>
            <a:pPr marL="0" indent="0" algn="r" rtl="1">
              <a:buNone/>
            </a:pPr>
            <a:endParaRPr lang="he-IL" b="1" dirty="0"/>
          </a:p>
          <a:p>
            <a:pPr marL="0" indent="0" algn="r" rtl="1">
              <a:buNone/>
            </a:pPr>
            <a:r>
              <a:rPr lang="he-IL" b="1" dirty="0"/>
              <a:t>5 - אחריות ופעולות לקוח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המשפט האחרון מגלגל אחריות ללקוח בלי ללוות אותו.</a:t>
            </a:r>
          </a:p>
          <a:p>
            <a:pPr marL="457200" lvl="1" indent="0" algn="r" rtl="1">
              <a:buNone/>
            </a:pPr>
            <a:r>
              <a:rPr lang="he-IL" dirty="0"/>
              <a:t>לדוגמה: </a:t>
            </a:r>
            <a:r>
              <a:rPr lang="en-US" dirty="0"/>
              <a:t> “The client should update…” </a:t>
            </a:r>
            <a:r>
              <a:rPr lang="he-IL" dirty="0"/>
              <a:t>נשמע שהלקוח לבד.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להוסיף ליווי והכוונה:</a:t>
            </a:r>
          </a:p>
          <a:p>
            <a:pPr marL="914400" lvl="2" indent="0">
              <a:buNone/>
            </a:pPr>
            <a:r>
              <a:rPr lang="he-IL" dirty="0"/>
              <a:t>"</a:t>
            </a:r>
            <a:r>
              <a:rPr lang="en-US" dirty="0"/>
              <a:t>We can  guide them through updating the authentication list and confirming the configuration."</a:t>
            </a:r>
          </a:p>
          <a:p>
            <a:pPr marL="0" indent="0" algn="r" rtl="1">
              <a:buNone/>
            </a:pP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en-US" b="1" dirty="0"/>
              <a:t> 6 </a:t>
            </a:r>
            <a:r>
              <a:rPr lang="he-IL" b="1" dirty="0"/>
              <a:t>- בהירות בין מערכות הפעלה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ערבוב בין </a:t>
            </a:r>
            <a:r>
              <a:rPr lang="en-US" dirty="0"/>
              <a:t> Linux</a:t>
            </a:r>
            <a:r>
              <a:rPr lang="he-IL" dirty="0"/>
              <a:t>ל-</a:t>
            </a:r>
            <a:r>
              <a:rPr lang="en-US" dirty="0"/>
              <a:t> Windows </a:t>
            </a:r>
            <a:r>
              <a:rPr lang="he-IL" dirty="0"/>
              <a:t>בלי הסבר למה זה רלוונטי.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להבהיר את ההבדלים והקשר:</a:t>
            </a:r>
          </a:p>
          <a:p>
            <a:pPr marL="914400" lvl="2" indent="0" algn="l">
              <a:buNone/>
            </a:pPr>
            <a:r>
              <a:rPr lang="he-IL" dirty="0"/>
              <a:t>"</a:t>
            </a:r>
            <a:r>
              <a:rPr lang="en-US" dirty="0"/>
              <a:t>The FQDN change is specific to Linux. The API call Diego mentioned is relevant for Windows environments, so this detail does not apply here."</a:t>
            </a:r>
          </a:p>
        </p:txBody>
      </p:sp>
    </p:spTree>
    <p:extLst>
      <p:ext uri="{BB962C8B-B14F-4D97-AF65-F5344CB8AC3E}">
        <p14:creationId xmlns:p14="http://schemas.microsoft.com/office/powerpoint/2010/main" val="332331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71506-EC86-FBA2-A742-5C4A0AA0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5E51B4-43F2-9029-016B-85AE11C1D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510222E-8392-AB18-20DF-58F819CE5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9AC2C0-A0EF-7FA7-ED2D-74EBF63E7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380" y="-9526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סיכום נקודות לשיפור בתשובת לקוח מקצועית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950010A-F4D5-CDEF-DF55-750B7170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681E4F-1C95-2AE0-9037-45688E6EC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98825"/>
          </a:xfrm>
        </p:spPr>
        <p:txBody>
          <a:bodyPr/>
          <a:lstStyle/>
          <a:p>
            <a:pPr algn="r" rtl="1"/>
            <a:r>
              <a:rPr lang="he-IL" dirty="0"/>
              <a:t>טון שיתופי, לא מאשים.</a:t>
            </a:r>
          </a:p>
          <a:p>
            <a:pPr algn="r" rtl="1"/>
            <a:r>
              <a:rPr lang="he-IL" dirty="0"/>
              <a:t>הסבר ברור על מה שהבנו מהבעיה.</a:t>
            </a:r>
          </a:p>
          <a:p>
            <a:pPr algn="r" rtl="1"/>
            <a:r>
              <a:rPr lang="he-IL" dirty="0"/>
              <a:t>פירוט פעולות שאנחנו מבצעים עכשיו.</a:t>
            </a:r>
          </a:p>
          <a:p>
            <a:pPr algn="r" rtl="1"/>
            <a:r>
              <a:rPr lang="he-IL" dirty="0"/>
              <a:t>מבנה מסודר: מה קרה </a:t>
            </a:r>
            <a:r>
              <a:rPr lang="he-IL" dirty="0">
                <a:sym typeface="Wingdings" pitchFamily="2" charset="2"/>
              </a:rPr>
              <a:t></a:t>
            </a:r>
            <a:r>
              <a:rPr lang="he-IL" dirty="0"/>
              <a:t> מה המשמעות </a:t>
            </a:r>
            <a:r>
              <a:rPr lang="he-IL" dirty="0">
                <a:sym typeface="Wingdings" pitchFamily="2" charset="2"/>
              </a:rPr>
              <a:t></a:t>
            </a:r>
            <a:r>
              <a:rPr lang="he-IL" dirty="0"/>
              <a:t> מה עושים.</a:t>
            </a:r>
          </a:p>
          <a:p>
            <a:pPr algn="r" rtl="1"/>
            <a:r>
              <a:rPr lang="he-IL" dirty="0"/>
              <a:t>ליווי הלקוח בכל שלב, לא להעביר אחריות בלבד.</a:t>
            </a:r>
          </a:p>
          <a:p>
            <a:pPr algn="r" rtl="1"/>
            <a:r>
              <a:rPr lang="he-IL" dirty="0"/>
              <a:t>הבהרה בין מערכות הפעלה רלוונטיות.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2429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ED40B-363E-3011-5BC4-2045BE51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D79D284-165A-07D0-8EB1-BE9537B82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29B8266-6EEA-14CE-441E-F0EB3C5CD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DC60D6-353F-1C33-9751-7714D7FB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380" y="-9526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תשובה סופית ללקוח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FB4842F-4D2A-F7CA-979D-35B90A948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39F9DC-A8E0-726B-1743-1B1A6C1A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06" y="621212"/>
            <a:ext cx="9037563" cy="59986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Hi Daniel</a:t>
            </a:r>
            <a:r>
              <a:rPr lang="en-US" sz="1200" dirty="0"/>
              <a:t>,</a:t>
            </a:r>
            <a:endParaRPr lang="he-IL" sz="1200" dirty="0"/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I understand </a:t>
            </a:r>
            <a:r>
              <a:rPr lang="en-US" sz="1200" dirty="0"/>
              <a:t>that the customer reports the application stopped receiving passwords from the CP after the Linux upgrade.</a:t>
            </a:r>
            <a:br>
              <a:rPr lang="en-US" sz="1200" dirty="0"/>
            </a:br>
            <a:r>
              <a:rPr lang="en-US" sz="1200" dirty="0"/>
              <a:t>Based on the behavior and the logs they shared, the CP now treats the server as an unrecognized source.</a:t>
            </a:r>
            <a:br>
              <a:rPr lang="en-US" sz="1200" dirty="0"/>
            </a:br>
            <a:r>
              <a:rPr lang="en-US" sz="1200" dirty="0"/>
              <a:t>The upgrade introduced a new FQDN.</a:t>
            </a:r>
            <a:br>
              <a:rPr lang="en-US" sz="1200" dirty="0"/>
            </a:br>
            <a:r>
              <a:rPr lang="en-US" sz="1200" dirty="0"/>
              <a:t>The hostname -f output shows a different value, and this change affects how the CP matches the server in the authentication list.</a:t>
            </a:r>
            <a:br>
              <a:rPr lang="en-US" sz="1200" dirty="0"/>
            </a:br>
            <a:r>
              <a:rPr lang="en-US" sz="1200" dirty="0"/>
              <a:t>When the hostname changes, the CP identifies the server as an unauthorized endpoint and blocks every request.</a:t>
            </a:r>
          </a:p>
          <a:p>
            <a:pPr marL="0" indent="0">
              <a:buNone/>
            </a:pPr>
            <a:r>
              <a:rPr lang="en-US" sz="1200" b="1" dirty="0">
                <a:highlight>
                  <a:srgbClr val="FFFF00"/>
                </a:highlight>
              </a:rPr>
              <a:t>Next steps</a:t>
            </a:r>
            <a:endParaRPr lang="he-IL" sz="1200" b="1" dirty="0">
              <a:highlight>
                <a:srgbClr val="FFFF00"/>
              </a:highlight>
            </a:endParaRPr>
          </a:p>
          <a:p>
            <a:r>
              <a:rPr lang="en-US" sz="1200" dirty="0"/>
              <a:t>We will review the logs they send so we can confirm the behavior</a:t>
            </a:r>
            <a:endParaRPr lang="he-IL" sz="1200" dirty="0"/>
          </a:p>
          <a:p>
            <a:r>
              <a:rPr lang="en-US" sz="1200" dirty="0"/>
              <a:t>I will reproduce the scenario in-house to analyze it and suggest the correct fix</a:t>
            </a:r>
            <a:endParaRPr lang="he-IL" sz="1200" dirty="0"/>
          </a:p>
          <a:p>
            <a:r>
              <a:rPr lang="en-US" sz="1200" dirty="0"/>
              <a:t>I will </a:t>
            </a:r>
            <a:r>
              <a:rPr lang="en-US" sz="1200" dirty="0">
                <a:highlight>
                  <a:srgbClr val="FFFF00"/>
                </a:highlight>
              </a:rPr>
              <a:t>guide</a:t>
            </a:r>
            <a:r>
              <a:rPr lang="en-US" sz="1200" dirty="0"/>
              <a:t> you through each step if anything is unclear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I'll update </a:t>
            </a:r>
            <a:r>
              <a:rPr lang="en-US" sz="1200" dirty="0"/>
              <a:t>you within </a:t>
            </a:r>
            <a:r>
              <a:rPr lang="en-US" sz="1200" dirty="0">
                <a:highlight>
                  <a:srgbClr val="FFFF00"/>
                </a:highlight>
              </a:rPr>
              <a:t>24 hours</a:t>
            </a:r>
            <a:r>
              <a:rPr lang="en-US" sz="1200" dirty="0"/>
              <a:t> with initial findings.</a:t>
            </a:r>
          </a:p>
          <a:p>
            <a:pPr marL="0" indent="0">
              <a:buNone/>
            </a:pPr>
            <a:endParaRPr lang="he-IL" sz="1200" b="1" dirty="0"/>
          </a:p>
          <a:p>
            <a:pPr marL="0" indent="0">
              <a:buNone/>
            </a:pPr>
            <a:r>
              <a:rPr lang="en-US" sz="1200" b="1" dirty="0">
                <a:highlight>
                  <a:srgbClr val="FFFF00"/>
                </a:highlight>
              </a:rPr>
              <a:t>In the meantime, </a:t>
            </a:r>
            <a:r>
              <a:rPr lang="en-US" sz="1200" dirty="0"/>
              <a:t>if the customer cannot proceed until we present a full solution, please ask them to:</a:t>
            </a:r>
            <a:endParaRPr lang="he-IL" sz="1200" dirty="0"/>
          </a:p>
          <a:p>
            <a:r>
              <a:rPr lang="en-US" sz="1200" dirty="0"/>
              <a:t>Add the new hostname to the authentication list</a:t>
            </a:r>
            <a:endParaRPr lang="he-IL" sz="1200" dirty="0"/>
          </a:p>
          <a:p>
            <a:r>
              <a:rPr lang="en-US" sz="1200" dirty="0"/>
              <a:t>Confirm that the updated FQDN appears in the configuration</a:t>
            </a:r>
            <a:endParaRPr lang="he-IL" sz="1200" dirty="0"/>
          </a:p>
          <a:p>
            <a:r>
              <a:rPr lang="en-US" sz="1200" dirty="0"/>
              <a:t>Restart the relevant service after the update</a:t>
            </a:r>
          </a:p>
          <a:p>
            <a:pPr marL="0" indent="0">
              <a:buNone/>
            </a:pPr>
            <a:r>
              <a:rPr lang="en-US" sz="1200" dirty="0"/>
              <a:t>**</a:t>
            </a:r>
            <a:r>
              <a:rPr lang="en-US" sz="1200" dirty="0">
                <a:highlight>
                  <a:srgbClr val="FFFF00"/>
                </a:highlight>
              </a:rPr>
              <a:t>Internal</a:t>
            </a:r>
            <a:r>
              <a:rPr lang="en-US" sz="1200" dirty="0"/>
              <a:t> note to support</a:t>
            </a:r>
          </a:p>
          <a:p>
            <a:pPr marL="0" indent="0">
              <a:buNone/>
            </a:pPr>
            <a:r>
              <a:rPr lang="en-US" sz="1200" dirty="0"/>
              <a:t>Please guide the customer in each step on what they need to do </a:t>
            </a:r>
            <a:endParaRPr lang="he-IL" sz="1200" dirty="0"/>
          </a:p>
          <a:p>
            <a:pPr marL="0" indent="0">
              <a:buNone/>
            </a:pPr>
            <a:endParaRPr lang="en-US" sz="12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Thank you </a:t>
            </a:r>
            <a:r>
              <a:rPr lang="en-US" sz="1200" dirty="0"/>
              <a:t>for your collaboration. </a:t>
            </a:r>
            <a:br>
              <a:rPr lang="en-US" sz="1200" dirty="0"/>
            </a:br>
            <a:r>
              <a:rPr lang="en-US" sz="1200" dirty="0"/>
              <a:t>Please let me know if </a:t>
            </a:r>
            <a:r>
              <a:rPr lang="en-US" sz="1200" dirty="0">
                <a:highlight>
                  <a:srgbClr val="FFFF00"/>
                </a:highlight>
              </a:rPr>
              <a:t>you require any additional clarification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Best regards,</a:t>
            </a:r>
            <a:br>
              <a:rPr lang="en-US" sz="1200" dirty="0"/>
            </a:br>
            <a:r>
              <a:rPr lang="en-US" sz="1200" dirty="0"/>
              <a:t>[</a:t>
            </a:r>
            <a:r>
              <a:rPr lang="en-US" sz="1200" dirty="0">
                <a:highlight>
                  <a:srgbClr val="FFFF00"/>
                </a:highlight>
              </a:rPr>
              <a:t>Your Name</a:t>
            </a:r>
            <a:r>
              <a:rPr lang="en-US" sz="1200" dirty="0"/>
              <a:t>]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sz="1100" dirty="0"/>
          </a:p>
        </p:txBody>
      </p:sp>
    </p:spTree>
    <p:extLst>
      <p:ext uri="{BB962C8B-B14F-4D97-AF65-F5344CB8AC3E}">
        <p14:creationId xmlns:p14="http://schemas.microsoft.com/office/powerpoint/2010/main" val="240259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1002</Words>
  <Application>Microsoft Macintosh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-apple-system</vt:lpstr>
      <vt:lpstr>Aptos</vt:lpstr>
      <vt:lpstr>Aptos Display</vt:lpstr>
      <vt:lpstr>Arial</vt:lpstr>
      <vt:lpstr>Times New Roman</vt:lpstr>
      <vt:lpstr>Wingdings</vt:lpstr>
      <vt:lpstr>Office Theme</vt:lpstr>
      <vt:lpstr>דוגמה לטיפול באסקלציה</vt:lpstr>
      <vt:lpstr>הודעה מהתמיכה</vt:lpstr>
      <vt:lpstr>תשובה ללקוח על ידי הפיתוח</vt:lpstr>
      <vt:lpstr>ניתוח תשובה ללקוח על ידי הפיתוח</vt:lpstr>
      <vt:lpstr>ניתוח תשובה ללקוח על ידי הפיתוח</vt:lpstr>
      <vt:lpstr>סיכום נקודות לשיפור בתשובת לקוח מקצועית</vt:lpstr>
      <vt:lpstr>תשובה סופית ללקוח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Sucharczuk</dc:creator>
  <cp:lastModifiedBy>Diego Sucharczuk</cp:lastModifiedBy>
  <cp:revision>8</cp:revision>
  <dcterms:created xsi:type="dcterms:W3CDTF">2025-12-02T06:21:28Z</dcterms:created>
  <dcterms:modified xsi:type="dcterms:W3CDTF">2025-12-02T11:50:28Z</dcterms:modified>
</cp:coreProperties>
</file>